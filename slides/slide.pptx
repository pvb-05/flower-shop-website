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8288000" cy="10287000"/>
  <p:notesSz cx="6858000" cy="9144000"/>
  <p:embeddedFontLst>
    <p:embeddedFont>
      <p:font typeface="Lato Bold" panose="020F0502020204030203"/>
      <p:bold r:id="rId40"/>
    </p:embeddedFont>
    <p:embeddedFont>
      <p:font typeface="Lato" panose="020F0502020204030203"/>
      <p:regular r:id="rId41"/>
    </p:embeddedFont>
    <p:embeddedFont>
      <p:font typeface="Poppins Bold" panose="00000800000000000000"/>
      <p:bold r:id="rId42"/>
    </p:embeddedFont>
    <p:embeddedFont>
      <p:font typeface="Calibri" panose="020F0502020204030204" charset="0"/>
      <p:regular r:id="rId43"/>
      <p:bold r:id="rId44"/>
      <p:italic r:id="rId45"/>
      <p:boldItalic r:id="rId46"/>
    </p:embeddedFont>
    <p:embeddedFont>
      <p:font typeface="Merriweather Bold" panose="00000800000000000000"/>
      <p:bold r:id="rId47"/>
    </p:embeddedFont>
    <p:embeddedFont>
      <p:font typeface="DM Sans Bold"/>
      <p:bold r:id="rId48"/>
    </p:embeddedFont>
    <p:embeddedFont>
      <p:font typeface="DM Sans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font" Target="fonts/font10.fntdata"/><Relationship Id="rId48" Type="http://schemas.openxmlformats.org/officeDocument/2006/relationships/font" Target="fonts/font9.fntdata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sv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GIF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3896249" y="5320751"/>
            <a:ext cx="10495512" cy="3345952"/>
            <a:chOff x="0" y="0"/>
            <a:chExt cx="13994016" cy="4461269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994003" cy="4461256"/>
            </a:xfrm>
            <a:custGeom>
              <a:avLst/>
              <a:gdLst/>
              <a:ahLst/>
              <a:cxnLst/>
              <a:rect l="l" t="t" r="r" b="b"/>
              <a:pathLst>
                <a:path w="13994003" h="4461256">
                  <a:moveTo>
                    <a:pt x="254000" y="0"/>
                  </a:moveTo>
                  <a:lnTo>
                    <a:pt x="13740003" y="0"/>
                  </a:lnTo>
                  <a:cubicBezTo>
                    <a:pt x="13807368" y="0"/>
                    <a:pt x="13871973" y="26761"/>
                    <a:pt x="13919608" y="74395"/>
                  </a:cubicBezTo>
                  <a:cubicBezTo>
                    <a:pt x="13967242" y="122029"/>
                    <a:pt x="13994003" y="186635"/>
                    <a:pt x="13994003" y="254000"/>
                  </a:cubicBezTo>
                  <a:lnTo>
                    <a:pt x="13994003" y="4207256"/>
                  </a:lnTo>
                  <a:cubicBezTo>
                    <a:pt x="13994003" y="4347536"/>
                    <a:pt x="13880283" y="4461256"/>
                    <a:pt x="13740003" y="4461256"/>
                  </a:cubicBezTo>
                  <a:lnTo>
                    <a:pt x="254000" y="4461256"/>
                  </a:lnTo>
                  <a:cubicBezTo>
                    <a:pt x="113720" y="4461256"/>
                    <a:pt x="0" y="4347536"/>
                    <a:pt x="0" y="420725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2"/>
              <a:stretch>
                <a:fillRect b="-4559"/>
              </a:stretch>
            </a:blipFill>
            <a:ln w="38100" cap="sq">
              <a:solidFill>
                <a:srgbClr val="FFDAE0"/>
              </a:solidFill>
              <a:prstDash val="sysDot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57250" y="1458363"/>
            <a:ext cx="165735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TRƯỜNG ĐẠI HỌC KIẾN TRÚC HÀ NỘI</a:t>
            </a:r>
            <a:endParaRPr lang="en-US" sz="2250" b="1">
              <a:solidFill>
                <a:srgbClr val="475569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7250" y="2087013"/>
            <a:ext cx="165735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KHOA CÔNG NGHỆ THÔNG TIN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2912" y="3210963"/>
            <a:ext cx="17402175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Website Bán Hoa Trực Tuyến</a:t>
            </a:r>
            <a:endParaRPr lang="en-US" sz="72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857250" y="4477788"/>
            <a:ext cx="16573500" cy="57150"/>
            <a:chOff x="0" y="0"/>
            <a:chExt cx="220980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98000" cy="76200"/>
            </a:xfrm>
            <a:custGeom>
              <a:avLst/>
              <a:gdLst/>
              <a:ahLst/>
              <a:cxnLst/>
              <a:rect l="l" t="t" r="r" b="b"/>
              <a:pathLst>
                <a:path w="22098000" h="762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4267724" y="5520776"/>
            <a:ext cx="4590526" cy="5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2475" b="1">
                <a:solidFill>
                  <a:srgbClr val="2D5A27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Nhóm sinh viên thực hiện 9:</a:t>
            </a:r>
            <a:endParaRPr lang="en-US" sz="2475" b="1">
              <a:solidFill>
                <a:srgbClr val="2D5A27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29750" y="5520776"/>
            <a:ext cx="4590526" cy="5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2475" b="1">
                <a:solidFill>
                  <a:srgbClr val="2D5A27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Thông tin chung:</a:t>
            </a:r>
            <a:endParaRPr lang="en-US" sz="2475" b="1">
              <a:solidFill>
                <a:srgbClr val="2D5A27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29750" y="6247362"/>
            <a:ext cx="4762694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Giảng viên HD: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Nguyễn Hồng Thanh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29750" y="687601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Môn học: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Công Nghệ Web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29750" y="750466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Năm học: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2025-2026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267724" y="624736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1. Phan Văn Bắc - 2355010026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67724" y="670456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2. Lê Quốc Duy - 2355010042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67724" y="716176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3. Lê Hồng Phong - 2355010158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267724" y="7618962"/>
            <a:ext cx="4590526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4. Chu Đức Hiếu - 2355010078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500188" y="4367213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Giới thiệu &amp; Mục tiêu đề tài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00188" y="5038725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Công nghệ &amp; Kiến trúc hệ thống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0188" y="5710237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Phâ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 tích yêu cầu &amp; Use Case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00188" y="6381750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Thiết kế Cơ sở dữ liệu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72688" y="4367213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Cài đặt chương trình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72688" y="5038725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Đánh giá ưu điểm &amp; Hạn chế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72688" y="5710237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Hướng phát triển tương lai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72688" y="6381750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Kết luận &amp; Hỏi đáp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57250" y="4586288"/>
            <a:ext cx="171450" cy="371475"/>
            <a:chOff x="0" y="0"/>
            <a:chExt cx="228600" cy="495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8600" cy="495300"/>
            </a:xfrm>
            <a:custGeom>
              <a:avLst/>
              <a:gdLst/>
              <a:ahLst/>
              <a:cxnLst/>
              <a:rect l="l" t="t" r="r" b="b"/>
              <a:pathLst>
                <a:path w="228600" h="495300">
                  <a:moveTo>
                    <a:pt x="0" y="0"/>
                  </a:moveTo>
                  <a:lnTo>
                    <a:pt x="228600" y="0"/>
                  </a:lnTo>
                  <a:lnTo>
                    <a:pt x="228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57250" y="5257800"/>
            <a:ext cx="228600" cy="371475"/>
            <a:chOff x="0" y="0"/>
            <a:chExt cx="3048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304800" cy="495300"/>
            </a:xfrm>
            <a:custGeom>
              <a:avLst/>
              <a:gdLst/>
              <a:ahLst/>
              <a:cxnLst/>
              <a:rect l="l" t="t" r="r" b="b"/>
              <a:pathLst>
                <a:path w="304800" h="495300">
                  <a:moveTo>
                    <a:pt x="0" y="0"/>
                  </a:moveTo>
                  <a:lnTo>
                    <a:pt x="304800" y="0"/>
                  </a:lnTo>
                  <a:lnTo>
                    <a:pt x="3048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857250" y="5929312"/>
            <a:ext cx="214312" cy="371475"/>
            <a:chOff x="0" y="0"/>
            <a:chExt cx="285750" cy="4953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285750" cy="495300"/>
            </a:xfrm>
            <a:custGeom>
              <a:avLst/>
              <a:gdLst/>
              <a:ahLst/>
              <a:cxnLst/>
              <a:rect l="l" t="t" r="r" b="b"/>
              <a:pathLst>
                <a:path w="285750" h="495300">
                  <a:moveTo>
                    <a:pt x="0" y="0"/>
                  </a:moveTo>
                  <a:lnTo>
                    <a:pt x="285750" y="0"/>
                  </a:lnTo>
                  <a:lnTo>
                    <a:pt x="2857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857250" y="6600825"/>
            <a:ext cx="257175" cy="371475"/>
            <a:chOff x="0" y="0"/>
            <a:chExt cx="342900" cy="4953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42900" cy="495300"/>
            </a:xfrm>
            <a:custGeom>
              <a:avLst/>
              <a:gdLst/>
              <a:ahLst/>
              <a:cxnLst/>
              <a:rect l="l" t="t" r="r" b="b"/>
              <a:pathLst>
                <a:path w="342900" h="495300">
                  <a:moveTo>
                    <a:pt x="0" y="0"/>
                  </a:moveTo>
                  <a:lnTo>
                    <a:pt x="342900" y="0"/>
                  </a:lnTo>
                  <a:lnTo>
                    <a:pt x="342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9429750" y="4586288"/>
            <a:ext cx="214312" cy="371475"/>
            <a:chOff x="0" y="0"/>
            <a:chExt cx="285750" cy="4953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285750" cy="495300"/>
            </a:xfrm>
            <a:custGeom>
              <a:avLst/>
              <a:gdLst/>
              <a:ahLst/>
              <a:cxnLst/>
              <a:rect l="l" t="t" r="r" b="b"/>
              <a:pathLst>
                <a:path w="285750" h="495300">
                  <a:moveTo>
                    <a:pt x="0" y="0"/>
                  </a:moveTo>
                  <a:lnTo>
                    <a:pt x="285750" y="0"/>
                  </a:lnTo>
                  <a:lnTo>
                    <a:pt x="2857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9429750" y="5257800"/>
            <a:ext cx="228600" cy="371475"/>
            <a:chOff x="0" y="0"/>
            <a:chExt cx="304800" cy="4953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304800" cy="495300"/>
            </a:xfrm>
            <a:custGeom>
              <a:avLst/>
              <a:gdLst/>
              <a:ahLst/>
              <a:cxnLst/>
              <a:rect l="l" t="t" r="r" b="b"/>
              <a:pathLst>
                <a:path w="304800" h="495300">
                  <a:moveTo>
                    <a:pt x="0" y="0"/>
                  </a:moveTo>
                  <a:lnTo>
                    <a:pt x="304800" y="0"/>
                  </a:lnTo>
                  <a:lnTo>
                    <a:pt x="3048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9429750" y="5929312"/>
            <a:ext cx="214312" cy="371475"/>
            <a:chOff x="0" y="0"/>
            <a:chExt cx="285750" cy="4953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285750" cy="495300"/>
            </a:xfrm>
            <a:custGeom>
              <a:avLst/>
              <a:gdLst/>
              <a:ahLst/>
              <a:cxnLst/>
              <a:rect l="l" t="t" r="r" b="b"/>
              <a:pathLst>
                <a:path w="285750" h="495300">
                  <a:moveTo>
                    <a:pt x="0" y="0"/>
                  </a:moveTo>
                  <a:lnTo>
                    <a:pt x="285750" y="0"/>
                  </a:lnTo>
                  <a:lnTo>
                    <a:pt x="2857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9429750" y="6600825"/>
            <a:ext cx="300038" cy="371475"/>
            <a:chOff x="0" y="0"/>
            <a:chExt cx="400050" cy="4953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400050" cy="495300"/>
            </a:xfrm>
            <a:custGeom>
              <a:avLst/>
              <a:gdLst/>
              <a:ahLst/>
              <a:cxnLst/>
              <a:rect l="l" t="t" r="r" b="b"/>
              <a:pathLst>
                <a:path w="400050" h="49530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Nội dung bài thuyết trình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9" name="Group 29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3850481"/>
            <a:ext cx="5333924" cy="3829050"/>
            <a:chOff x="0" y="0"/>
            <a:chExt cx="7111898" cy="51054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111873" cy="5105400"/>
            </a:xfrm>
            <a:custGeom>
              <a:avLst/>
              <a:gdLst/>
              <a:ahLst/>
              <a:cxnLst/>
              <a:rect l="l" t="t" r="r" b="b"/>
              <a:pathLst>
                <a:path w="7111873" h="5105400">
                  <a:moveTo>
                    <a:pt x="0" y="0"/>
                  </a:moveTo>
                  <a:lnTo>
                    <a:pt x="7111873" y="0"/>
                  </a:lnTo>
                  <a:lnTo>
                    <a:pt x="7111873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9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6476924" y="3850481"/>
            <a:ext cx="5333924" cy="3829050"/>
            <a:chOff x="0" y="0"/>
            <a:chExt cx="7111898" cy="5105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111873" cy="5105400"/>
            </a:xfrm>
            <a:custGeom>
              <a:avLst/>
              <a:gdLst/>
              <a:ahLst/>
              <a:cxnLst/>
              <a:rect l="l" t="t" r="r" b="b"/>
              <a:pathLst>
                <a:path w="7111873" h="5105400">
                  <a:moveTo>
                    <a:pt x="0" y="0"/>
                  </a:moveTo>
                  <a:lnTo>
                    <a:pt x="7111873" y="0"/>
                  </a:lnTo>
                  <a:lnTo>
                    <a:pt x="7111873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2096598" y="3850481"/>
            <a:ext cx="5333924" cy="3829050"/>
            <a:chOff x="0" y="0"/>
            <a:chExt cx="7111898" cy="51054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111873" cy="5105400"/>
            </a:xfrm>
            <a:custGeom>
              <a:avLst/>
              <a:gdLst/>
              <a:ahLst/>
              <a:cxnLst/>
              <a:rect l="l" t="t" r="r" b="b"/>
              <a:pathLst>
                <a:path w="7111873" h="5105400">
                  <a:moveTo>
                    <a:pt x="0" y="0"/>
                  </a:moveTo>
                  <a:lnTo>
                    <a:pt x="7111873" y="0"/>
                  </a:lnTo>
                  <a:lnTo>
                    <a:pt x="7111873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9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13949" y="5093494"/>
            <a:ext cx="4820526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Bối cảnh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8725" y="5603081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Thương mại điện tử bùng nổ, việc mua sắm trực tuyến trở thành thói quen tất yếu.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33623" y="5093494"/>
            <a:ext cx="4820526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Nhu cầu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48399" y="5603081"/>
            <a:ext cx="4590974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Nhu cầu tặng hoa tươi trong các dịp lễ, sự kiện ngày càng tăng cao và cần sự tiện lợi.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53296" y="5093494"/>
            <a:ext cx="4820526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Giải pháp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68073" y="5603081"/>
            <a:ext cx="4590974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Xây dựng nền tảng kết nối cửa hàng hoa với khách hàng thông qua Website hiện đại.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3238348" y="4279106"/>
            <a:ext cx="571500" cy="571500"/>
            <a:chOff x="0" y="0"/>
            <a:chExt cx="762000" cy="7620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0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8858031" y="4279106"/>
            <a:ext cx="571500" cy="571500"/>
            <a:chOff x="0" y="0"/>
            <a:chExt cx="762000" cy="7620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50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4477705" y="4279106"/>
            <a:ext cx="571500" cy="571500"/>
            <a:chOff x="0" y="0"/>
            <a:chExt cx="762000" cy="762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2500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Giới thiệu đề tài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429750" y="2907506"/>
            <a:ext cx="8001000" cy="5715000"/>
            <a:chOff x="0" y="0"/>
            <a:chExt cx="1066800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68000" cy="7620000"/>
            </a:xfrm>
            <a:custGeom>
              <a:avLst/>
              <a:gdLst/>
              <a:ahLst/>
              <a:cxnLst/>
              <a:rect l="l" t="t" r="r" b="b"/>
              <a:pathLst>
                <a:path w="10668000" h="7620000">
                  <a:moveTo>
                    <a:pt x="0" y="0"/>
                  </a:moveTo>
                  <a:lnTo>
                    <a:pt x="10668000" y="0"/>
                  </a:lnTo>
                  <a:lnTo>
                    <a:pt x="10668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501188" y="2978944"/>
            <a:ext cx="7858125" cy="5572125"/>
            <a:chOff x="0" y="0"/>
            <a:chExt cx="10477500" cy="742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77500" cy="7429500"/>
            </a:xfrm>
            <a:custGeom>
              <a:avLst/>
              <a:gdLst/>
              <a:ahLst/>
              <a:cxnLst/>
              <a:rect l="l" t="t" r="r" b="b"/>
              <a:pathLst>
                <a:path w="10477500" h="7429500">
                  <a:moveTo>
                    <a:pt x="0" y="0"/>
                  </a:moveTo>
                  <a:lnTo>
                    <a:pt x="10477500" y="0"/>
                  </a:lnTo>
                  <a:lnTo>
                    <a:pt x="1047750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5" r="-321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7250" y="4586288"/>
            <a:ext cx="342900" cy="371475"/>
            <a:chOff x="0" y="0"/>
            <a:chExt cx="4572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857250" y="5257800"/>
            <a:ext cx="342900" cy="371475"/>
            <a:chOff x="0" y="0"/>
            <a:chExt cx="4572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857250" y="5929312"/>
            <a:ext cx="342900" cy="371475"/>
            <a:chOff x="0" y="0"/>
            <a:chExt cx="457200" cy="495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57250" y="6600825"/>
            <a:ext cx="342900" cy="371475"/>
            <a:chOff x="0" y="0"/>
            <a:chExt cx="4572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500188" y="4367213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Xây dựng website bán hoa hoàn chỉnh.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00188" y="5038725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Cho phép khách hàng tìm kiếm và mua sản phẩm.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00188" y="5710237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Hệ thống đặt hàng trực tuyến nhanh chóng.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00188" y="6381750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Tối ưu hóa trải nghiệm người dùng (UX/UI).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Mục tiêu dự án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789930" y="4619625"/>
            <a:ext cx="685292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CƠ SỞ LÝ THUYẾT</a:t>
            </a:r>
            <a:endParaRPr lang="en-US" sz="60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42862" y="0"/>
            <a:ext cx="18330862" cy="10287000"/>
            <a:chOff x="0" y="0"/>
            <a:chExt cx="2444115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441150" cy="13716000"/>
            </a:xfrm>
            <a:custGeom>
              <a:avLst/>
              <a:gdLst/>
              <a:ahLst/>
              <a:cxnLst/>
              <a:rect l="l" t="t" r="r" b="b"/>
              <a:pathLst>
                <a:path w="24441150" h="13716000">
                  <a:moveTo>
                    <a:pt x="0" y="0"/>
                  </a:moveTo>
                  <a:lnTo>
                    <a:pt x="24441150" y="0"/>
                  </a:lnTo>
                  <a:lnTo>
                    <a:pt x="2444115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17" b="-11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35933" y="4030670"/>
            <a:ext cx="16573271" cy="3371850"/>
            <a:chOff x="0" y="0"/>
            <a:chExt cx="22097695" cy="4495800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0"/>
              <a:ext cx="7111898" cy="4495800"/>
              <a:chOff x="0" y="0"/>
              <a:chExt cx="7111898" cy="4495800"/>
            </a:xfrm>
          </p:grpSpPr>
          <p:sp>
            <p:nvSpPr>
              <p:cNvPr id="6" name="Freeform 6" descr="image.png"/>
              <p:cNvSpPr/>
              <p:nvPr/>
            </p:nvSpPr>
            <p:spPr>
              <a:xfrm>
                <a:off x="0" y="0"/>
                <a:ext cx="7111873" cy="4495800"/>
              </a:xfrm>
              <a:custGeom>
                <a:avLst/>
                <a:gdLst/>
                <a:ahLst/>
                <a:cxnLst/>
                <a:rect l="l" t="t" r="r" b="b"/>
                <a:pathLst>
                  <a:path w="7111873" h="4495800">
                    <a:moveTo>
                      <a:pt x="0" y="0"/>
                    </a:moveTo>
                    <a:lnTo>
                      <a:pt x="7111873" y="0"/>
                    </a:lnTo>
                    <a:lnTo>
                      <a:pt x="7111873" y="4495800"/>
                    </a:lnTo>
                    <a:lnTo>
                      <a:pt x="0" y="4495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-180"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 rot="0">
              <a:off x="7492898" y="0"/>
              <a:ext cx="7111898" cy="4495800"/>
              <a:chOff x="0" y="0"/>
              <a:chExt cx="7111898" cy="4495800"/>
            </a:xfrm>
          </p:grpSpPr>
          <p:sp>
            <p:nvSpPr>
              <p:cNvPr id="8" name="Freeform 8" descr="image.png"/>
              <p:cNvSpPr/>
              <p:nvPr/>
            </p:nvSpPr>
            <p:spPr>
              <a:xfrm>
                <a:off x="0" y="0"/>
                <a:ext cx="7111873" cy="4495800"/>
              </a:xfrm>
              <a:custGeom>
                <a:avLst/>
                <a:gdLst/>
                <a:ahLst/>
                <a:cxnLst/>
                <a:rect l="l" t="t" r="r" b="b"/>
                <a:pathLst>
                  <a:path w="7111873" h="4495800">
                    <a:moveTo>
                      <a:pt x="0" y="0"/>
                    </a:moveTo>
                    <a:lnTo>
                      <a:pt x="7111873" y="0"/>
                    </a:lnTo>
                    <a:lnTo>
                      <a:pt x="7111873" y="4495800"/>
                    </a:lnTo>
                    <a:lnTo>
                      <a:pt x="0" y="4495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80"/>
                </a:stretch>
              </a:blipFill>
            </p:spPr>
          </p:sp>
        </p:grpSp>
        <p:grpSp>
          <p:nvGrpSpPr>
            <p:cNvPr id="9" name="Group 9"/>
            <p:cNvGrpSpPr/>
            <p:nvPr/>
          </p:nvGrpSpPr>
          <p:grpSpPr>
            <a:xfrm rot="0">
              <a:off x="14985797" y="0"/>
              <a:ext cx="7111898" cy="4495800"/>
              <a:chOff x="0" y="0"/>
              <a:chExt cx="7111898" cy="4495800"/>
            </a:xfrm>
          </p:grpSpPr>
          <p:sp>
            <p:nvSpPr>
              <p:cNvPr id="10" name="Freeform 10" descr="image.png"/>
              <p:cNvSpPr/>
              <p:nvPr/>
            </p:nvSpPr>
            <p:spPr>
              <a:xfrm>
                <a:off x="0" y="0"/>
                <a:ext cx="7111873" cy="4495800"/>
              </a:xfrm>
              <a:custGeom>
                <a:avLst/>
                <a:gdLst/>
                <a:ahLst/>
                <a:cxnLst/>
                <a:rect l="l" t="t" r="r" b="b"/>
                <a:pathLst>
                  <a:path w="7111873" h="4495800">
                    <a:moveTo>
                      <a:pt x="0" y="0"/>
                    </a:moveTo>
                    <a:lnTo>
                      <a:pt x="7111873" y="0"/>
                    </a:lnTo>
                    <a:lnTo>
                      <a:pt x="7111873" y="4495800"/>
                    </a:lnTo>
                    <a:lnTo>
                      <a:pt x="0" y="4495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180"/>
                </a:stretch>
              </a:blip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342265" y="1666875"/>
              <a:ext cx="6427368" cy="574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D5A27"/>
                  </a:solidFill>
                  <a:latin typeface="Poppins Bold" panose="00000800000000000000"/>
                  <a:ea typeface="Poppins Bold" panose="00000800000000000000"/>
                  <a:cs typeface="Poppins Bold" panose="00000800000000000000"/>
                  <a:sym typeface="Poppins Bold" panose="00000800000000000000"/>
                </a:rPr>
                <a:t>Backend</a:t>
              </a:r>
              <a:endPara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498" y="2436495"/>
              <a:ext cx="6616598" cy="1335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n</a:t>
              </a: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ằm ở phía máy chủ, chịu trách nhiệm tiếp nhận yêu cầu từ Frontend.</a:t>
              </a:r>
              <a:endPara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5163" y="1666875"/>
              <a:ext cx="6427368" cy="574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D5A27"/>
                  </a:solidFill>
                  <a:latin typeface="Poppins Bold" panose="00000800000000000000"/>
                  <a:ea typeface="Poppins Bold" panose="00000800000000000000"/>
                  <a:cs typeface="Poppins Bold" panose="00000800000000000000"/>
                  <a:sym typeface="Poppins Bold" panose="00000800000000000000"/>
                </a:rPr>
                <a:t>Database</a:t>
              </a:r>
              <a:endPara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8198" y="2390775"/>
              <a:ext cx="6121298" cy="1335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nơ</a:t>
              </a: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i lưu trữ, quản lý và truy xuất toàn bộ dữ liệu của hệ thống.</a:t>
              </a:r>
              <a:endPara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28062" y="1666875"/>
              <a:ext cx="6427368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2D5A27"/>
                  </a:solidFill>
                  <a:latin typeface="Poppins Bold" panose="00000800000000000000"/>
                  <a:ea typeface="Poppins Bold" panose="00000800000000000000"/>
                  <a:cs typeface="Poppins Bold" panose="00000800000000000000"/>
                  <a:sym typeface="Poppins Bold" panose="00000800000000000000"/>
                </a:rPr>
                <a:t>Frontend</a:t>
              </a:r>
              <a:endPara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233447" y="2436495"/>
              <a:ext cx="6616598" cy="1335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nơ</a:t>
              </a:r>
              <a:r>
                <a:rPr lang="en-US" sz="2250">
                  <a:solidFill>
                    <a:srgbClr val="475569"/>
                  </a:solidFill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rPr>
                <a:t>i người dùng trực tiếp tương tác như nhập liệu, bấm nút và xem thông tin. </a:t>
              </a:r>
              <a:endPara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 rot="0">
              <a:off x="3222422" y="571500"/>
              <a:ext cx="666750" cy="762000"/>
              <a:chOff x="0" y="0"/>
              <a:chExt cx="666750" cy="762000"/>
            </a:xfrm>
          </p:grpSpPr>
          <p:sp>
            <p:nvSpPr>
              <p:cNvPr id="18" name="Freeform 18" descr="image.png"/>
              <p:cNvSpPr/>
              <p:nvPr/>
            </p:nvSpPr>
            <p:spPr>
              <a:xfrm>
                <a:off x="0" y="0"/>
                <a:ext cx="666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7620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r="-2857"/>
                </a:stretch>
              </a:blipFill>
            </p:spPr>
          </p:sp>
        </p:grpSp>
        <p:grpSp>
          <p:nvGrpSpPr>
            <p:cNvPr id="19" name="Group 19"/>
            <p:cNvGrpSpPr/>
            <p:nvPr/>
          </p:nvGrpSpPr>
          <p:grpSpPr>
            <a:xfrm rot="0">
              <a:off x="10715320" y="571500"/>
              <a:ext cx="666750" cy="762000"/>
              <a:chOff x="0" y="0"/>
              <a:chExt cx="666750" cy="762000"/>
            </a:xfrm>
          </p:grpSpPr>
          <p:sp>
            <p:nvSpPr>
              <p:cNvPr id="20" name="Freeform 20" descr="image.png"/>
              <p:cNvSpPr/>
              <p:nvPr/>
            </p:nvSpPr>
            <p:spPr>
              <a:xfrm>
                <a:off x="0" y="0"/>
                <a:ext cx="666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7620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2857"/>
                </a:stretch>
              </a:blipFill>
            </p:spPr>
          </p:sp>
        </p:grpSp>
        <p:grpSp>
          <p:nvGrpSpPr>
            <p:cNvPr id="21" name="Group 21"/>
            <p:cNvGrpSpPr/>
            <p:nvPr/>
          </p:nvGrpSpPr>
          <p:grpSpPr>
            <a:xfrm rot="0">
              <a:off x="18065356" y="571500"/>
              <a:ext cx="952500" cy="762000"/>
              <a:chOff x="0" y="0"/>
              <a:chExt cx="952500" cy="762000"/>
            </a:xfrm>
          </p:grpSpPr>
          <p:sp>
            <p:nvSpPr>
              <p:cNvPr id="22" name="Freeform 22" descr="image.png"/>
              <p:cNvSpPr/>
              <p:nvPr/>
            </p:nvSpPr>
            <p:spPr>
              <a:xfrm>
                <a:off x="0" y="0"/>
                <a:ext cx="952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762000">
                    <a:moveTo>
                      <a:pt x="0" y="0"/>
                    </a:moveTo>
                    <a:lnTo>
                      <a:pt x="952500" y="0"/>
                    </a:lnTo>
                    <a:lnTo>
                      <a:pt x="952500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</p:spPr>
          </p:sp>
        </p:grpSp>
      </p:grpSp>
      <p:sp>
        <p:nvSpPr>
          <p:cNvPr id="23" name="TextBox 23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Công nghệ sử dụng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2070266"/>
            <a:ext cx="1442725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Hệ thống được thiết kế theo mô hình client-server, chia thành 3 thành phần chính với các chức năng chuyên biệt: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3128962"/>
            <a:ext cx="5333924" cy="5229225"/>
            <a:chOff x="0" y="0"/>
            <a:chExt cx="7111898" cy="69723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542" r="-278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6476924" y="3128962"/>
            <a:ext cx="5333924" cy="5229225"/>
            <a:chOff x="0" y="0"/>
            <a:chExt cx="7111898" cy="6972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542" r="-2782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2096598" y="3128962"/>
            <a:ext cx="5333924" cy="5229225"/>
            <a:chOff x="0" y="0"/>
            <a:chExt cx="7111898" cy="6972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542" r="-2782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13949" y="4371975"/>
            <a:ext cx="48205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HTML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8725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Ngôn ngữ đánh dấu siêu văn bản được dùng để xây dựng cấu trúc và định dạng nội dung cho trang web.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33623" y="4371975"/>
            <a:ext cx="48205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CSS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48399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Ngôn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ngữ định dạng được sử dụng để thiết kế giao diện, màu sắc và bố cục cho trang web.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53296" y="4371975"/>
            <a:ext cx="4820526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JavaSc</a:t>
            </a: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ript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324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2468073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Ngôn ngữ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lập trình kịch bản được để tạo ra các tính năng tương tác động trên trang web.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3274066" y="3557588"/>
            <a:ext cx="500062" cy="571500"/>
            <a:chOff x="0" y="0"/>
            <a:chExt cx="666750" cy="76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617" b="-661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8893740" y="3557588"/>
            <a:ext cx="500062" cy="571500"/>
            <a:chOff x="0" y="0"/>
            <a:chExt cx="666750" cy="762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617" b="-661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4515948" y="3557588"/>
            <a:ext cx="583163" cy="700088"/>
            <a:chOff x="0" y="0"/>
            <a:chExt cx="952500" cy="11434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2500" cy="1143476"/>
            </a:xfrm>
            <a:custGeom>
              <a:avLst/>
              <a:gdLst/>
              <a:ahLst/>
              <a:cxnLst/>
              <a:rect l="l" t="t" r="r" b="b"/>
              <a:pathLst>
                <a:path w="952500" h="1143476">
                  <a:moveTo>
                    <a:pt x="0" y="0"/>
                  </a:moveTo>
                  <a:lnTo>
                    <a:pt x="952500" y="0"/>
                  </a:lnTo>
                  <a:lnTo>
                    <a:pt x="952500" y="1143476"/>
                  </a:lnTo>
                  <a:lnTo>
                    <a:pt x="0" y="1143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68" r="-456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FRONTEND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857250" y="8196263"/>
            <a:ext cx="1738788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lang="en-US" sz="225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3550451"/>
            <a:ext cx="500062" cy="571500"/>
            <a:chOff x="0" y="0"/>
            <a:chExt cx="666750" cy="76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47" r="-27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7250" y="5411636"/>
            <a:ext cx="481012" cy="571500"/>
            <a:chOff x="0" y="0"/>
            <a:chExt cx="641350" cy="76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1350" cy="762000"/>
            </a:xfrm>
            <a:custGeom>
              <a:avLst/>
              <a:gdLst/>
              <a:ahLst/>
              <a:cxnLst/>
              <a:rect l="l" t="t" r="r" b="b"/>
              <a:pathLst>
                <a:path w="641350" h="762000">
                  <a:moveTo>
                    <a:pt x="0" y="0"/>
                  </a:moveTo>
                  <a:lnTo>
                    <a:pt x="641350" y="0"/>
                  </a:lnTo>
                  <a:lnTo>
                    <a:pt x="6413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36" r="-483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429750" y="2907506"/>
            <a:ext cx="8001000" cy="5715000"/>
            <a:chOff x="0" y="0"/>
            <a:chExt cx="10668000" cy="7620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668000" cy="7620000"/>
            </a:xfrm>
            <a:custGeom>
              <a:avLst/>
              <a:gdLst/>
              <a:ahLst/>
              <a:cxnLst/>
              <a:rect l="l" t="t" r="r" b="b"/>
              <a:pathLst>
                <a:path w="10668000" h="7620000">
                  <a:moveTo>
                    <a:pt x="0" y="0"/>
                  </a:moveTo>
                  <a:lnTo>
                    <a:pt x="10668000" y="0"/>
                  </a:lnTo>
                  <a:lnTo>
                    <a:pt x="10668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9501188" y="2978944"/>
            <a:ext cx="7858125" cy="5572125"/>
            <a:chOff x="0" y="0"/>
            <a:chExt cx="10477500" cy="7429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77500" cy="7429500"/>
            </a:xfrm>
            <a:custGeom>
              <a:avLst/>
              <a:gdLst/>
              <a:ahLst/>
              <a:cxnLst/>
              <a:rect l="l" t="t" r="r" b="b"/>
              <a:pathLst>
                <a:path w="10477500" h="7429500">
                  <a:moveTo>
                    <a:pt x="0" y="0"/>
                  </a:moveTo>
                  <a:lnTo>
                    <a:pt x="10477500" y="0"/>
                  </a:lnTo>
                  <a:lnTo>
                    <a:pt x="1047750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421" r="-1842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FRAMEWORK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97168" y="3388526"/>
            <a:ext cx="6880353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Tailwind CSS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 một framework CSS giúp xây dựng giao diện website nhanh chóng bằng cách kết hợp các lớp có sẵn trực tiếp trong HTML.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97168" y="5249711"/>
            <a:ext cx="6880353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DaisyUI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:  một thư viện component cho Tailwind CSS, giúp xây dựng giao diện nhanh với các thành phần có sẵn như button, card và modal.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57250" y="7110343"/>
            <a:ext cx="7620271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→ Tối ưu hóa giúp giảm dung lượng tệp CSS, tăng tốc độ tải trang và cải thiện hiệu suất hệ thống.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3128962"/>
            <a:ext cx="5333924" cy="5229225"/>
            <a:chOff x="0" y="0"/>
            <a:chExt cx="7111898" cy="69723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542" r="-278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6476924" y="3128962"/>
            <a:ext cx="5333924" cy="5229225"/>
            <a:chOff x="0" y="0"/>
            <a:chExt cx="7111898" cy="6972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542" r="-2782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2096598" y="3128962"/>
            <a:ext cx="5333924" cy="5229225"/>
            <a:chOff x="0" y="0"/>
            <a:chExt cx="7111898" cy="6972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111873" cy="6972300"/>
            </a:xfrm>
            <a:custGeom>
              <a:avLst/>
              <a:gdLst/>
              <a:ahLst/>
              <a:cxnLst/>
              <a:rect l="l" t="t" r="r" b="b"/>
              <a:pathLst>
                <a:path w="7111873" h="6972300">
                  <a:moveTo>
                    <a:pt x="0" y="0"/>
                  </a:moveTo>
                  <a:lnTo>
                    <a:pt x="7111873" y="0"/>
                  </a:lnTo>
                  <a:lnTo>
                    <a:pt x="7111873" y="6972300"/>
                  </a:lnTo>
                  <a:lnTo>
                    <a:pt x="0" y="697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542" r="-2782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13949" y="4371975"/>
            <a:ext cx="48205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Nodejs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8725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ôi trường thực thi JS mã nguồn mở, cho phép chạy JS trên máy chủ thay vì chỉ trên trình duyệt.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33623" y="4371975"/>
            <a:ext cx="48205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Expressjs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48399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framework cho Node.js, giúp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đơn giản hóa việc xử lý yêu cầu, định tuyến và phản hồi từ máy chủ.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53296" y="4371975"/>
            <a:ext cx="48205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EJS Engine</a:t>
            </a:r>
            <a:endParaRPr lang="en-US" sz="27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68073" y="5581650"/>
            <a:ext cx="4590974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template engine cho Node.js, cho phé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 nhúng mã JS vào HTML để tạo nội dung động trên trang web.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3274066" y="3557588"/>
            <a:ext cx="500062" cy="571500"/>
            <a:chOff x="0" y="0"/>
            <a:chExt cx="666750" cy="76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48" r="-194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8893740" y="3557588"/>
            <a:ext cx="800329" cy="571500"/>
            <a:chOff x="0" y="0"/>
            <a:chExt cx="1067105" cy="762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7105" cy="762000"/>
            </a:xfrm>
            <a:custGeom>
              <a:avLst/>
              <a:gdLst/>
              <a:ahLst/>
              <a:cxnLst/>
              <a:rect l="l" t="t" r="r" b="b"/>
              <a:pathLst>
                <a:path w="1067105" h="762000">
                  <a:moveTo>
                    <a:pt x="0" y="0"/>
                  </a:moveTo>
                  <a:lnTo>
                    <a:pt x="1067105" y="0"/>
                  </a:lnTo>
                  <a:lnTo>
                    <a:pt x="106710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015" b="-501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14515948" y="3557588"/>
            <a:ext cx="583163" cy="700088"/>
            <a:chOff x="0" y="0"/>
            <a:chExt cx="952500" cy="11434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2500" cy="1143476"/>
            </a:xfrm>
            <a:custGeom>
              <a:avLst/>
              <a:gdLst/>
              <a:ahLst/>
              <a:cxnLst/>
              <a:rect l="l" t="t" r="r" b="b"/>
              <a:pathLst>
                <a:path w="952500" h="1143476">
                  <a:moveTo>
                    <a:pt x="0" y="0"/>
                  </a:moveTo>
                  <a:lnTo>
                    <a:pt x="952500" y="0"/>
                  </a:lnTo>
                  <a:lnTo>
                    <a:pt x="952500" y="1143476"/>
                  </a:lnTo>
                  <a:lnTo>
                    <a:pt x="0" y="1143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899" b="-3899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BACKEND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857250" y="8196263"/>
            <a:ext cx="1738788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lang="en-US" sz="225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674620" y="4619625"/>
            <a:ext cx="1343660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PHÂN TÍCH VÀ THIẾT KẾ HỆ THỐNG</a:t>
            </a:r>
            <a:endParaRPr lang="en-US" sz="60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5129212"/>
            <a:ext cx="428625" cy="371475"/>
            <a:chOff x="0" y="0"/>
            <a:chExt cx="571500" cy="4953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71500" cy="495300"/>
            </a:xfrm>
            <a:custGeom>
              <a:avLst/>
              <a:gdLst/>
              <a:ahLst/>
              <a:cxnLst/>
              <a:rect l="l" t="t" r="r" b="b"/>
              <a:pathLst>
                <a:path w="571500" h="495300">
                  <a:moveTo>
                    <a:pt x="0" y="0"/>
                  </a:moveTo>
                  <a:lnTo>
                    <a:pt x="571500" y="0"/>
                  </a:lnTo>
                  <a:lnTo>
                    <a:pt x="5715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5800725"/>
            <a:ext cx="342900" cy="371475"/>
            <a:chOff x="0" y="0"/>
            <a:chExt cx="4572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57200" cy="495300"/>
            </a:xfrm>
            <a:custGeom>
              <a:avLst/>
              <a:gdLst/>
              <a:ahLst/>
              <a:cxnLst/>
              <a:rect l="l" t="t" r="r" b="b"/>
              <a:pathLst>
                <a:path w="457200" h="4953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7250" y="6472238"/>
            <a:ext cx="385762" cy="371475"/>
            <a:chOff x="0" y="0"/>
            <a:chExt cx="51435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14350" cy="495300"/>
            </a:xfrm>
            <a:custGeom>
              <a:avLst/>
              <a:gdLst/>
              <a:ahLst/>
              <a:cxnLst/>
              <a:rect l="l" t="t" r="r" b="b"/>
              <a:pathLst>
                <a:path w="514350" h="495300">
                  <a:moveTo>
                    <a:pt x="0" y="0"/>
                  </a:moveTo>
                  <a:lnTo>
                    <a:pt x="514350" y="0"/>
                  </a:lnTo>
                  <a:lnTo>
                    <a:pt x="5143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429750" y="5129212"/>
            <a:ext cx="385762" cy="371475"/>
            <a:chOff x="0" y="0"/>
            <a:chExt cx="51435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14350" cy="495300"/>
            </a:xfrm>
            <a:custGeom>
              <a:avLst/>
              <a:gdLst/>
              <a:ahLst/>
              <a:cxnLst/>
              <a:rect l="l" t="t" r="r" b="b"/>
              <a:pathLst>
                <a:path w="514350" h="495300">
                  <a:moveTo>
                    <a:pt x="0" y="0"/>
                  </a:moveTo>
                  <a:lnTo>
                    <a:pt x="514350" y="0"/>
                  </a:lnTo>
                  <a:lnTo>
                    <a:pt x="5143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9429750" y="5800725"/>
            <a:ext cx="257175" cy="371475"/>
            <a:chOff x="0" y="0"/>
            <a:chExt cx="342900" cy="495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342900" cy="495300"/>
            </a:xfrm>
            <a:custGeom>
              <a:avLst/>
              <a:gdLst/>
              <a:ahLst/>
              <a:cxnLst/>
              <a:rect l="l" t="t" r="r" b="b"/>
              <a:pathLst>
                <a:path w="342900" h="495300">
                  <a:moveTo>
                    <a:pt x="0" y="0"/>
                  </a:moveTo>
                  <a:lnTo>
                    <a:pt x="342900" y="0"/>
                  </a:lnTo>
                  <a:lnTo>
                    <a:pt x="342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9429750" y="6472238"/>
            <a:ext cx="428625" cy="371475"/>
            <a:chOff x="0" y="0"/>
            <a:chExt cx="5715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71500" cy="495300"/>
            </a:xfrm>
            <a:custGeom>
              <a:avLst/>
              <a:gdLst/>
              <a:ahLst/>
              <a:cxnLst/>
              <a:rect l="l" t="t" r="r" b="b"/>
              <a:pathLst>
                <a:path w="571500" h="495300">
                  <a:moveTo>
                    <a:pt x="0" y="0"/>
                  </a:moveTo>
                  <a:lnTo>
                    <a:pt x="571500" y="0"/>
                  </a:lnTo>
                  <a:lnTo>
                    <a:pt x="5715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3777287" y="828905"/>
            <a:ext cx="3780472" cy="4114800"/>
          </a:xfrm>
          <a:custGeom>
            <a:avLst/>
            <a:gdLst/>
            <a:ahLst/>
            <a:cxnLst/>
            <a:rect l="l" t="t" r="r" b="b"/>
            <a:pathLst>
              <a:path w="3780472" h="4114800">
                <a:moveTo>
                  <a:pt x="0" y="0"/>
                </a:moveTo>
                <a:lnTo>
                  <a:pt x="3780472" y="0"/>
                </a:lnTo>
                <a:lnTo>
                  <a:pt x="37804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57250" y="4410075"/>
            <a:ext cx="84010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210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Người dùng</a:t>
            </a:r>
            <a:endParaRPr lang="en-US" sz="210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29750" y="4410075"/>
            <a:ext cx="84010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210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Người quản lý hệ thống</a:t>
            </a:r>
            <a:endParaRPr lang="en-US" sz="210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04950" y="4905375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Đăng ký &amp; Đăng nhập tài khoản.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04950" y="5581650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Xem danh sách &amp; chi tiết sản phẩm.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04950" y="6257925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Tìm kiếm, lọc, sắp xếp sản phẩm.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077450" y="4905375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Quản lý danh mục &amp; sản phẩm.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077450" y="5581650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Quản lý đơn hàng &amp; trạng thái.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77450" y="6257925"/>
            <a:ext cx="736282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Thống kê doanh thu.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04950" y="6943725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Mua hàng &amp; thanh toán trực tuyến.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04950" y="7620000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Xem lịch sử đơn hàng.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077450" y="6943725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Quản lý tài khoản người dùng.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Phân tích yêu cầu chức năng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1028700"/>
            <a:ext cx="7612380" cy="8229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96450" y="2724150"/>
            <a:ext cx="7362825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Giao diện thân thiện: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Thiết kế responsive với Tailwind CSS, tương thích mọi thiết bị và trình duyệt.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96450" y="4981575"/>
            <a:ext cx="7362825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Hiệu năng cao: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Tối ưu truy vấn SQL, nén tài nguyên, thời gian phản hồi dưới 2 giây.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696450" y="6972300"/>
            <a:ext cx="7362825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Bảo mật &amp; Mở rộng: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Mã hóa mật khẩu bcrypt, session bảo mật, kiến trúc mô-đun hóa dễ nâng cấp.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809625"/>
            <a:ext cx="1710690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35"/>
              </a:lnSpc>
              <a:spcBef>
                <a:spcPct val="0"/>
              </a:spcBef>
            </a:pPr>
            <a:r>
              <a:rPr lang="en-US" sz="428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Yêu cầu phi chức năng</a:t>
            </a:r>
            <a:endParaRPr lang="en-US" sz="428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57250" y="857250"/>
            <a:ext cx="114300" cy="819150"/>
            <a:chOff x="0" y="0"/>
            <a:chExt cx="152400" cy="109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400" cy="1092200"/>
            </a:xfrm>
            <a:custGeom>
              <a:avLst/>
              <a:gdLst/>
              <a:ahLst/>
              <a:cxnLst/>
              <a:rect l="l" t="t" r="r" b="b"/>
              <a:pathLst>
                <a:path w="152400" h="1092200">
                  <a:moveTo>
                    <a:pt x="0" y="0"/>
                  </a:moveTo>
                  <a:lnTo>
                    <a:pt x="152400" y="0"/>
                  </a:lnTo>
                  <a:lnTo>
                    <a:pt x="1524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9854928" y="1885761"/>
            <a:ext cx="7591614" cy="759161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455" y="0"/>
                  </a:moveTo>
                  <a:lnTo>
                    <a:pt x="789345" y="0"/>
                  </a:lnTo>
                  <a:cubicBezTo>
                    <a:pt x="802299" y="0"/>
                    <a:pt x="812800" y="10501"/>
                    <a:pt x="812800" y="23455"/>
                  </a:cubicBezTo>
                  <a:lnTo>
                    <a:pt x="812800" y="789345"/>
                  </a:lnTo>
                  <a:cubicBezTo>
                    <a:pt x="812800" y="802299"/>
                    <a:pt x="802299" y="812800"/>
                    <a:pt x="789345" y="812800"/>
                  </a:cubicBezTo>
                  <a:lnTo>
                    <a:pt x="23455" y="812800"/>
                  </a:lnTo>
                  <a:cubicBezTo>
                    <a:pt x="10501" y="812800"/>
                    <a:pt x="0" y="802299"/>
                    <a:pt x="0" y="789345"/>
                  </a:cubicBezTo>
                  <a:lnTo>
                    <a:pt x="0" y="23455"/>
                  </a:lnTo>
                  <a:cubicBezTo>
                    <a:pt x="0" y="10501"/>
                    <a:pt x="10501" y="0"/>
                    <a:pt x="23455" y="0"/>
                  </a:cubicBezTo>
                  <a:close/>
                </a:path>
              </a:pathLst>
            </a:custGeom>
            <a:blipFill>
              <a:blip r:embed="rId1"/>
              <a:stretch>
                <a:fillRect l="-4719" r="-471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919288" y="4976812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UC09: Thống kê doanh thu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19288" y="4300538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UC08: Quản lý đơn hàng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19288" y="3624262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UC07: Quản lý sản phẩm (CRUD)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19288" y="2947988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UC06: Quản lý danh mục sản phẩm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90700" y="8982075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UC05: Xem lịch sử đơn hàng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90700" y="8305800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UC04: Đặt hàng &amp; thanh toán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90700" y="7629525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UC03: Xem &amp; tìm kiếm sản phẩm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90700" y="6953250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UC02: Đăng nhập hệ thống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90700" y="6276975"/>
            <a:ext cx="736282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5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UC01: Đăng ký tài khoản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71588" y="2443162"/>
            <a:ext cx="84010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  <a:r>
              <a:rPr lang="en-US" sz="211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Người q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uản 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lý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hệ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thố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</a:t>
            </a:r>
            <a:endParaRPr lang="en-US" sz="211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3000" y="5772150"/>
            <a:ext cx="84010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Người dùng (Khách hàng)</a:t>
            </a:r>
            <a:endParaRPr lang="en-US" sz="211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3000" y="809625"/>
            <a:ext cx="1710690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35"/>
              </a:lnSpc>
              <a:spcBef>
                <a:spcPct val="0"/>
              </a:spcBef>
            </a:pPr>
            <a:r>
              <a:rPr lang="en-US" sz="428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Biểu đồ Use Case tổng quát</a:t>
            </a:r>
            <a:endParaRPr lang="en-US" sz="428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2875" y="-21431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4283921" y="2395294"/>
            <a:ext cx="13961217" cy="6863006"/>
            <a:chOff x="0" y="0"/>
            <a:chExt cx="2162958" cy="10632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2958" cy="1063259"/>
            </a:xfrm>
            <a:custGeom>
              <a:avLst/>
              <a:gdLst/>
              <a:ahLst/>
              <a:cxnLst/>
              <a:rect l="l" t="t" r="r" b="b"/>
              <a:pathLst>
                <a:path w="2162958" h="1063259">
                  <a:moveTo>
                    <a:pt x="0" y="0"/>
                  </a:moveTo>
                  <a:lnTo>
                    <a:pt x="2162958" y="0"/>
                  </a:lnTo>
                  <a:lnTo>
                    <a:pt x="2162958" y="1063259"/>
                  </a:lnTo>
                  <a:lnTo>
                    <a:pt x="0" y="1063259"/>
                  </a:lnTo>
                  <a:close/>
                </a:path>
              </a:pathLst>
            </a:custGeom>
            <a:blipFill>
              <a:blip r:embed="rId2"/>
              <a:stretch>
                <a:fillRect l="-289" r="-28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Kiến trúc hệ thống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85825" y="6952660"/>
            <a:ext cx="840105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  <a:r>
              <a:rPr lang="en-US" sz="211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Lớp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giao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ệ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 (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Presentat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Layer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)</a:t>
            </a:r>
            <a:endParaRPr lang="en-US" sz="211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885825" y="7738472"/>
            <a:ext cx="84010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  <a:r>
              <a:rPr lang="en-US" sz="211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Lớp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xử lý nghiệp vụ (Bu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siness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Logic Layer)</a:t>
            </a:r>
            <a:endParaRPr lang="en-US" sz="211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85825" y="8426722"/>
            <a:ext cx="840105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  <a:r>
              <a:rPr lang="en-US" sz="211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Lớp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dữ liệ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</a:t>
            </a:r>
            <a:r>
              <a:rPr lang="en-US" sz="211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(Data Layer)</a:t>
            </a:r>
            <a:endParaRPr lang="en-US" sz="211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25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-36047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8089551" y="1671638"/>
            <a:ext cx="8432227" cy="8579316"/>
            <a:chOff x="0" y="0"/>
            <a:chExt cx="812800" cy="8269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26978"/>
            </a:xfrm>
            <a:custGeom>
              <a:avLst/>
              <a:gdLst/>
              <a:ahLst/>
              <a:cxnLst/>
              <a:rect l="l" t="t" r="r" b="b"/>
              <a:pathLst>
                <a:path w="812800" h="826978">
                  <a:moveTo>
                    <a:pt x="21117" y="0"/>
                  </a:moveTo>
                  <a:lnTo>
                    <a:pt x="791683" y="0"/>
                  </a:lnTo>
                  <a:cubicBezTo>
                    <a:pt x="803346" y="0"/>
                    <a:pt x="812800" y="9454"/>
                    <a:pt x="812800" y="21117"/>
                  </a:cubicBezTo>
                  <a:lnTo>
                    <a:pt x="812800" y="805861"/>
                  </a:lnTo>
                  <a:cubicBezTo>
                    <a:pt x="812800" y="817524"/>
                    <a:pt x="803346" y="826978"/>
                    <a:pt x="791683" y="826978"/>
                  </a:cubicBezTo>
                  <a:lnTo>
                    <a:pt x="21117" y="826978"/>
                  </a:lnTo>
                  <a:cubicBezTo>
                    <a:pt x="15516" y="826978"/>
                    <a:pt x="10145" y="824753"/>
                    <a:pt x="6185" y="820793"/>
                  </a:cubicBezTo>
                  <a:cubicBezTo>
                    <a:pt x="2225" y="816833"/>
                    <a:pt x="0" y="811462"/>
                    <a:pt x="0" y="805861"/>
                  </a:cubicBezTo>
                  <a:lnTo>
                    <a:pt x="0" y="21117"/>
                  </a:lnTo>
                  <a:cubicBezTo>
                    <a:pt x="0" y="9454"/>
                    <a:pt x="9454" y="0"/>
                    <a:pt x="21117" y="0"/>
                  </a:cubicBezTo>
                  <a:close/>
                </a:path>
              </a:pathLst>
            </a:custGeom>
            <a:blipFill>
              <a:blip r:embed="rId2"/>
              <a:stretch>
                <a:fillRect t="-6812" b="-681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Sơ đồ quan hệ thực thể (ERD)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57250" y="5464969"/>
            <a:ext cx="2892771" cy="14288"/>
            <a:chOff x="0" y="0"/>
            <a:chExt cx="3857028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56990" cy="19050"/>
            </a:xfrm>
            <a:custGeom>
              <a:avLst/>
              <a:gdLst/>
              <a:ahLst/>
              <a:cxnLst/>
              <a:rect l="l" t="t" r="r" b="b"/>
              <a:pathLst>
                <a:path w="3856990" h="19050">
                  <a:moveTo>
                    <a:pt x="0" y="0"/>
                  </a:moveTo>
                  <a:lnTo>
                    <a:pt x="3856990" y="0"/>
                  </a:lnTo>
                  <a:lnTo>
                    <a:pt x="38569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3750021" y="5464969"/>
            <a:ext cx="6645697" cy="14288"/>
            <a:chOff x="0" y="0"/>
            <a:chExt cx="886093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0917" cy="19050"/>
            </a:xfrm>
            <a:custGeom>
              <a:avLst/>
              <a:gdLst/>
              <a:ahLst/>
              <a:cxnLst/>
              <a:rect l="l" t="t" r="r" b="b"/>
              <a:pathLst>
                <a:path w="8860917" h="19050">
                  <a:moveTo>
                    <a:pt x="0" y="0"/>
                  </a:moveTo>
                  <a:lnTo>
                    <a:pt x="8860917" y="0"/>
                  </a:lnTo>
                  <a:lnTo>
                    <a:pt x="88609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10395718" y="5464969"/>
            <a:ext cx="7035032" cy="14288"/>
            <a:chOff x="0" y="0"/>
            <a:chExt cx="9380042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80093" cy="19050"/>
            </a:xfrm>
            <a:custGeom>
              <a:avLst/>
              <a:gdLst/>
              <a:ahLst/>
              <a:cxnLst/>
              <a:rect l="l" t="t" r="r" b="b"/>
              <a:pathLst>
                <a:path w="9380093" h="19050">
                  <a:moveTo>
                    <a:pt x="0" y="0"/>
                  </a:moveTo>
                  <a:lnTo>
                    <a:pt x="9380093" y="0"/>
                  </a:lnTo>
                  <a:lnTo>
                    <a:pt x="93800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7250" y="6093619"/>
            <a:ext cx="2892771" cy="14288"/>
            <a:chOff x="0" y="0"/>
            <a:chExt cx="3857028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56990" cy="19050"/>
            </a:xfrm>
            <a:custGeom>
              <a:avLst/>
              <a:gdLst/>
              <a:ahLst/>
              <a:cxnLst/>
              <a:rect l="l" t="t" r="r" b="b"/>
              <a:pathLst>
                <a:path w="3856990" h="19050">
                  <a:moveTo>
                    <a:pt x="0" y="0"/>
                  </a:moveTo>
                  <a:lnTo>
                    <a:pt x="3856990" y="0"/>
                  </a:lnTo>
                  <a:lnTo>
                    <a:pt x="38569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3750021" y="6093619"/>
            <a:ext cx="6645697" cy="14288"/>
            <a:chOff x="0" y="0"/>
            <a:chExt cx="886093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60917" cy="19050"/>
            </a:xfrm>
            <a:custGeom>
              <a:avLst/>
              <a:gdLst/>
              <a:ahLst/>
              <a:cxnLst/>
              <a:rect l="l" t="t" r="r" b="b"/>
              <a:pathLst>
                <a:path w="8860917" h="19050">
                  <a:moveTo>
                    <a:pt x="0" y="0"/>
                  </a:moveTo>
                  <a:lnTo>
                    <a:pt x="8860917" y="0"/>
                  </a:lnTo>
                  <a:lnTo>
                    <a:pt x="88609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0395718" y="6093619"/>
            <a:ext cx="7035032" cy="14288"/>
            <a:chOff x="0" y="0"/>
            <a:chExt cx="9380042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80093" cy="19050"/>
            </a:xfrm>
            <a:custGeom>
              <a:avLst/>
              <a:gdLst/>
              <a:ahLst/>
              <a:cxnLst/>
              <a:rect l="l" t="t" r="r" b="b"/>
              <a:pathLst>
                <a:path w="9380093" h="19050">
                  <a:moveTo>
                    <a:pt x="0" y="0"/>
                  </a:moveTo>
                  <a:lnTo>
                    <a:pt x="9380093" y="0"/>
                  </a:lnTo>
                  <a:lnTo>
                    <a:pt x="93800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857250" y="6736556"/>
            <a:ext cx="2892771" cy="14288"/>
            <a:chOff x="0" y="0"/>
            <a:chExt cx="3857028" cy="19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56990" cy="19050"/>
            </a:xfrm>
            <a:custGeom>
              <a:avLst/>
              <a:gdLst/>
              <a:ahLst/>
              <a:cxnLst/>
              <a:rect l="l" t="t" r="r" b="b"/>
              <a:pathLst>
                <a:path w="3856990" h="19050">
                  <a:moveTo>
                    <a:pt x="0" y="0"/>
                  </a:moveTo>
                  <a:lnTo>
                    <a:pt x="3856990" y="0"/>
                  </a:lnTo>
                  <a:lnTo>
                    <a:pt x="38569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3750021" y="6736556"/>
            <a:ext cx="6645697" cy="14288"/>
            <a:chOff x="0" y="0"/>
            <a:chExt cx="8860930" cy="19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60917" cy="19050"/>
            </a:xfrm>
            <a:custGeom>
              <a:avLst/>
              <a:gdLst/>
              <a:ahLst/>
              <a:cxnLst/>
              <a:rect l="l" t="t" r="r" b="b"/>
              <a:pathLst>
                <a:path w="8860917" h="19050">
                  <a:moveTo>
                    <a:pt x="0" y="0"/>
                  </a:moveTo>
                  <a:lnTo>
                    <a:pt x="8860917" y="0"/>
                  </a:lnTo>
                  <a:lnTo>
                    <a:pt x="88609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0395718" y="6736556"/>
            <a:ext cx="7035032" cy="14288"/>
            <a:chOff x="0" y="0"/>
            <a:chExt cx="9380042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0093" cy="19050"/>
            </a:xfrm>
            <a:custGeom>
              <a:avLst/>
              <a:gdLst/>
              <a:ahLst/>
              <a:cxnLst/>
              <a:rect l="l" t="t" r="r" b="b"/>
              <a:pathLst>
                <a:path w="9380093" h="19050">
                  <a:moveTo>
                    <a:pt x="0" y="0"/>
                  </a:moveTo>
                  <a:lnTo>
                    <a:pt x="9380093" y="0"/>
                  </a:lnTo>
                  <a:lnTo>
                    <a:pt x="93800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857250" y="7379494"/>
            <a:ext cx="2892771" cy="14288"/>
            <a:chOff x="0" y="0"/>
            <a:chExt cx="3857028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56990" cy="19050"/>
            </a:xfrm>
            <a:custGeom>
              <a:avLst/>
              <a:gdLst/>
              <a:ahLst/>
              <a:cxnLst/>
              <a:rect l="l" t="t" r="r" b="b"/>
              <a:pathLst>
                <a:path w="3856990" h="19050">
                  <a:moveTo>
                    <a:pt x="0" y="0"/>
                  </a:moveTo>
                  <a:lnTo>
                    <a:pt x="3856990" y="0"/>
                  </a:lnTo>
                  <a:lnTo>
                    <a:pt x="38569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3750021" y="7379494"/>
            <a:ext cx="6645697" cy="14288"/>
            <a:chOff x="0" y="0"/>
            <a:chExt cx="8860930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860917" cy="19050"/>
            </a:xfrm>
            <a:custGeom>
              <a:avLst/>
              <a:gdLst/>
              <a:ahLst/>
              <a:cxnLst/>
              <a:rect l="l" t="t" r="r" b="b"/>
              <a:pathLst>
                <a:path w="8860917" h="19050">
                  <a:moveTo>
                    <a:pt x="0" y="0"/>
                  </a:moveTo>
                  <a:lnTo>
                    <a:pt x="8860917" y="0"/>
                  </a:lnTo>
                  <a:lnTo>
                    <a:pt x="88609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10395718" y="7379494"/>
            <a:ext cx="7035032" cy="14288"/>
            <a:chOff x="0" y="0"/>
            <a:chExt cx="9380042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80093" cy="19050"/>
            </a:xfrm>
            <a:custGeom>
              <a:avLst/>
              <a:gdLst/>
              <a:ahLst/>
              <a:cxnLst/>
              <a:rect l="l" t="t" r="r" b="b"/>
              <a:pathLst>
                <a:path w="9380093" h="19050">
                  <a:moveTo>
                    <a:pt x="0" y="0"/>
                  </a:moveTo>
                  <a:lnTo>
                    <a:pt x="9380093" y="0"/>
                  </a:lnTo>
                  <a:lnTo>
                    <a:pt x="93800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28" name="Freeform 28"/>
          <p:cNvSpPr/>
          <p:nvPr/>
        </p:nvSpPr>
        <p:spPr>
          <a:xfrm>
            <a:off x="6270438" y="4527098"/>
            <a:ext cx="4050041" cy="3605843"/>
          </a:xfrm>
          <a:custGeom>
            <a:avLst/>
            <a:gdLst/>
            <a:ahLst/>
            <a:cxnLst/>
            <a:rect l="l" t="t" r="r" b="b"/>
            <a:pathLst>
              <a:path w="4050041" h="3605843">
                <a:moveTo>
                  <a:pt x="0" y="0"/>
                </a:moveTo>
                <a:lnTo>
                  <a:pt x="4050041" y="0"/>
                </a:lnTo>
                <a:lnTo>
                  <a:pt x="4050041" y="3605844"/>
                </a:lnTo>
                <a:lnTo>
                  <a:pt x="0" y="360584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62571" y="2164628"/>
            <a:ext cx="3857908" cy="2163845"/>
          </a:xfrm>
          <a:custGeom>
            <a:avLst/>
            <a:gdLst/>
            <a:ahLst/>
            <a:cxnLst/>
            <a:rect l="l" t="t" r="r" b="b"/>
            <a:pathLst>
              <a:path w="3857908" h="2163845">
                <a:moveTo>
                  <a:pt x="0" y="0"/>
                </a:moveTo>
                <a:lnTo>
                  <a:pt x="3857908" y="0"/>
                </a:lnTo>
                <a:lnTo>
                  <a:pt x="3857908" y="2163845"/>
                </a:lnTo>
                <a:lnTo>
                  <a:pt x="0" y="2163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320479" y="2303171"/>
            <a:ext cx="4712245" cy="5680658"/>
          </a:xfrm>
          <a:custGeom>
            <a:avLst/>
            <a:gdLst/>
            <a:ahLst/>
            <a:cxnLst/>
            <a:rect l="l" t="t" r="r" b="b"/>
            <a:pathLst>
              <a:path w="4712245" h="5680658">
                <a:moveTo>
                  <a:pt x="0" y="0"/>
                </a:moveTo>
                <a:lnTo>
                  <a:pt x="4712245" y="0"/>
                </a:lnTo>
                <a:lnTo>
                  <a:pt x="4712245" y="5680658"/>
                </a:lnTo>
                <a:lnTo>
                  <a:pt x="0" y="5680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21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322863" y="1879461"/>
            <a:ext cx="3774046" cy="3985558"/>
          </a:xfrm>
          <a:custGeom>
            <a:avLst/>
            <a:gdLst/>
            <a:ahLst/>
            <a:cxnLst/>
            <a:rect l="l" t="t" r="r" b="b"/>
            <a:pathLst>
              <a:path w="3774046" h="3985558">
                <a:moveTo>
                  <a:pt x="0" y="0"/>
                </a:moveTo>
                <a:lnTo>
                  <a:pt x="3774046" y="0"/>
                </a:lnTo>
                <a:lnTo>
                  <a:pt x="3774046" y="3985558"/>
                </a:lnTo>
                <a:lnTo>
                  <a:pt x="0" y="398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735" r="-12410" b="-2839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048002" y="6107906"/>
            <a:ext cx="4197135" cy="4244966"/>
          </a:xfrm>
          <a:custGeom>
            <a:avLst/>
            <a:gdLst/>
            <a:ahLst/>
            <a:cxnLst/>
            <a:rect l="l" t="t" r="r" b="b"/>
            <a:pathLst>
              <a:path w="4197135" h="4244966">
                <a:moveTo>
                  <a:pt x="0" y="0"/>
                </a:moveTo>
                <a:lnTo>
                  <a:pt x="4197136" y="0"/>
                </a:lnTo>
                <a:lnTo>
                  <a:pt x="4197136" y="4244966"/>
                </a:lnTo>
                <a:lnTo>
                  <a:pt x="0" y="4244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Cơ sở dữ liệu (Database)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2522934"/>
            <a:ext cx="7362825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Có 5 bảng chính là: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85775" lvl="1" indent="-243205" algn="l">
              <a:lnSpc>
                <a:spcPts val="4275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User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85775" lvl="1" indent="-243205" algn="l">
              <a:lnSpc>
                <a:spcPts val="4275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Catagories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85775" lvl="1" indent="-243205" algn="l">
              <a:lnSpc>
                <a:spcPts val="4275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Products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85775" lvl="1" indent="-243205" algn="l">
              <a:lnSpc>
                <a:spcPts val="4275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Orders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85775" lvl="1" indent="-243205" algn="l">
              <a:lnSpc>
                <a:spcPts val="4275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OrderDetails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374673" y="4619625"/>
            <a:ext cx="9538655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CÀI ĐẶT CHƯƠNG TRÌNH</a:t>
            </a:r>
            <a:endParaRPr lang="en-US" sz="60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429750" y="2907506"/>
            <a:ext cx="8001000" cy="5715000"/>
            <a:chOff x="0" y="0"/>
            <a:chExt cx="10668000" cy="7620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668000" cy="7620000"/>
            </a:xfrm>
            <a:custGeom>
              <a:avLst/>
              <a:gdLst/>
              <a:ahLst/>
              <a:cxnLst/>
              <a:rect l="l" t="t" r="r" b="b"/>
              <a:pathLst>
                <a:path w="10668000" h="7620000">
                  <a:moveTo>
                    <a:pt x="0" y="0"/>
                  </a:moveTo>
                  <a:lnTo>
                    <a:pt x="10668000" y="0"/>
                  </a:lnTo>
                  <a:lnTo>
                    <a:pt x="10668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-25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501188" y="2978944"/>
            <a:ext cx="7858125" cy="5572125"/>
            <a:chOff x="0" y="0"/>
            <a:chExt cx="10477500" cy="7429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77500" cy="7429500"/>
            </a:xfrm>
            <a:custGeom>
              <a:avLst/>
              <a:gdLst/>
              <a:ahLst/>
              <a:cxnLst/>
              <a:rect l="l" t="t" r="r" b="b"/>
              <a:pathLst>
                <a:path w="10477500" h="7429500">
                  <a:moveTo>
                    <a:pt x="0" y="0"/>
                  </a:moveTo>
                  <a:lnTo>
                    <a:pt x="10477500" y="0"/>
                  </a:lnTo>
                  <a:lnTo>
                    <a:pt x="1047750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2" b="-2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500188" y="3538461"/>
            <a:ext cx="735806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Công nghệ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Framework Tailwind CSS, Daisy UI 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Frontend: 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HTML, CSS, JavaScript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Backend: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NodeJS, Expressjs, EJS Engine 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00188" y="5195811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CSDL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SQLite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0188" y="6161646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IDE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Visual Studio Code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0188" y="7124224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Cổng thanh toán: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payOS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3000" y="809625"/>
            <a:ext cx="17102138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Môi trường thực nghiệm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513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2907506"/>
            <a:ext cx="8001000" cy="5715000"/>
            <a:chOff x="0" y="0"/>
            <a:chExt cx="1066800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68000" cy="7620000"/>
            </a:xfrm>
            <a:custGeom>
              <a:avLst/>
              <a:gdLst/>
              <a:ahLst/>
              <a:cxnLst/>
              <a:rect l="l" t="t" r="r" b="b"/>
              <a:pathLst>
                <a:path w="10668000" h="7620000">
                  <a:moveTo>
                    <a:pt x="0" y="0"/>
                  </a:moveTo>
                  <a:lnTo>
                    <a:pt x="10668000" y="0"/>
                  </a:lnTo>
                  <a:lnTo>
                    <a:pt x="10668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28688" y="2978944"/>
            <a:ext cx="7858125" cy="5572125"/>
            <a:chOff x="0" y="0"/>
            <a:chExt cx="10477500" cy="742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77500" cy="7429500"/>
            </a:xfrm>
            <a:custGeom>
              <a:avLst/>
              <a:gdLst/>
              <a:ahLst/>
              <a:cxnLst/>
              <a:rect l="l" t="t" r="r" b="b"/>
              <a:pathLst>
                <a:path w="10477500" h="7429500">
                  <a:moveTo>
                    <a:pt x="0" y="0"/>
                  </a:moveTo>
                  <a:lnTo>
                    <a:pt x="10477500" y="0"/>
                  </a:lnTo>
                  <a:lnTo>
                    <a:pt x="1047750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35" r="-22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01238" y="2819090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đăng nhập hệ thống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01238" y="3536394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đăng ký tài khoản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01238" y="4501277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xem danh sách sản phẩm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01238" y="5434489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xem chi tiết sản phẩm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Triển k</a:t>
            </a: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hai các chức năng chính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01238" y="6334839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đặt hàng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01238" y="7165777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thanh toán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01238" y="7883962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Chức năng xem lịch sử mua hàng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1999904"/>
            <a:ext cx="8215312" cy="5572125"/>
            <a:chOff x="0" y="0"/>
            <a:chExt cx="10953750" cy="7429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3750" cy="7429500"/>
            </a:xfrm>
            <a:custGeom>
              <a:avLst/>
              <a:gdLst/>
              <a:ahLst/>
              <a:cxnLst/>
              <a:rect l="l" t="t" r="r" b="b"/>
              <a:pathLst>
                <a:path w="10953750" h="7429500">
                  <a:moveTo>
                    <a:pt x="0" y="0"/>
                  </a:moveTo>
                  <a:lnTo>
                    <a:pt x="10953750" y="0"/>
                  </a:lnTo>
                  <a:lnTo>
                    <a:pt x="1095375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87" r="-628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57250" y="7895879"/>
            <a:ext cx="8215312" cy="1949396"/>
          </a:xfrm>
          <a:custGeom>
            <a:avLst/>
            <a:gdLst/>
            <a:ahLst/>
            <a:cxnLst/>
            <a:rect l="l" t="t" r="r" b="b"/>
            <a:pathLst>
              <a:path w="8215312" h="1949396">
                <a:moveTo>
                  <a:pt x="0" y="0"/>
                </a:moveTo>
                <a:lnTo>
                  <a:pt x="8215312" y="0"/>
                </a:lnTo>
                <a:lnTo>
                  <a:pt x="8215312" y="1949396"/>
                </a:lnTo>
                <a:lnTo>
                  <a:pt x="0" y="1949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694069" y="2722245"/>
            <a:ext cx="7358062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Xác thực bảo mật: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Không so sánh chuỗi thuần, ứng dụng hàm bcrypt.compare() để đối chiếu mật khẩu băm.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94069" y="4981575"/>
            <a:ext cx="7358062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Quản lý phiên (Session):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Khởi tạo req.session.user để duy trì trạng thái đăng nhập xuyên suốt.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94069" y="6970049"/>
            <a:ext cx="7358062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Xử lý ngoại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lệ: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Bắt lỗi và thông báo trực tiếp khi sai tên tài khoản hoặc mật khẩu.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đăng nhập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1550194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11" b="-421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028700" y="8006715"/>
            <a:ext cx="8391504" cy="1184640"/>
          </a:xfrm>
          <a:custGeom>
            <a:avLst/>
            <a:gdLst/>
            <a:ahLst/>
            <a:cxnLst/>
            <a:rect l="l" t="t" r="r" b="b"/>
            <a:pathLst>
              <a:path w="8391504" h="1184640">
                <a:moveTo>
                  <a:pt x="0" y="0"/>
                </a:moveTo>
                <a:lnTo>
                  <a:pt x="8391504" y="0"/>
                </a:lnTo>
                <a:lnTo>
                  <a:pt x="8391504" y="1184640"/>
                </a:lnTo>
                <a:lnTo>
                  <a:pt x="0" y="118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287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43000" y="1585913"/>
            <a:ext cx="75009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đăng ký 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0188" y="2753201"/>
            <a:ext cx="6786562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Mã hó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a bảo mật: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TSử dụng thư viện bcrypt (saltRounds = 10) để băm (hash) mật khẩu trước khi lưu trữ, đảm bảo an toàn tuyệt đối.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0188" y="4541520"/>
            <a:ext cx="6786562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Lưu trữ dữ liệu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Thực thi truy vấn INSERT để ghi nhận tài khoản mới vào cơ sở dữ liệu SQLite.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00188" y="5783580"/>
            <a:ext cx="6786562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Xử lý ng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oại lệ: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Tự động bắt lỗi nếu tài khoản/email đã tồn tại (vi phạm ràng buộc UNIQUE) và điều hướng về trang Đăng nhập khi thành công.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1752254"/>
            <a:ext cx="8215312" cy="5572125"/>
            <a:chOff x="0" y="0"/>
            <a:chExt cx="10953750" cy="7429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3750" cy="7429500"/>
            </a:xfrm>
            <a:custGeom>
              <a:avLst/>
              <a:gdLst/>
              <a:ahLst/>
              <a:cxnLst/>
              <a:rect l="l" t="t" r="r" b="b"/>
              <a:pathLst>
                <a:path w="10953750" h="7429500">
                  <a:moveTo>
                    <a:pt x="0" y="0"/>
                  </a:moveTo>
                  <a:lnTo>
                    <a:pt x="10953750" y="0"/>
                  </a:lnTo>
                  <a:lnTo>
                    <a:pt x="1095375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380" b="-5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857250" y="7767557"/>
            <a:ext cx="8286750" cy="2064831"/>
          </a:xfrm>
          <a:custGeom>
            <a:avLst/>
            <a:gdLst/>
            <a:ahLst/>
            <a:cxnLst/>
            <a:rect l="l" t="t" r="r" b="b"/>
            <a:pathLst>
              <a:path w="8286750" h="2064831">
                <a:moveTo>
                  <a:pt x="0" y="0"/>
                </a:moveTo>
                <a:lnTo>
                  <a:pt x="8286750" y="0"/>
                </a:lnTo>
                <a:lnTo>
                  <a:pt x="8286750" y="2064831"/>
                </a:lnTo>
                <a:lnTo>
                  <a:pt x="0" y="2064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175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694069" y="2705100"/>
            <a:ext cx="735806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Truy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vấn tối ưu: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Sử dụng lệnh SQL JOIN để kết nối bảng Products và Categories, lấy thông tin sản phẩm và tên danh mục chỉ trong một lần truy vấn.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94069" y="5095875"/>
            <a:ext cx="735806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Kết x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uất dữ liệu động: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Truyền mảng dữ liệu sang Template Engine (EJS) để tự động sinh giao diện danh sách dạng lưới.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94069" y="7276754"/>
            <a:ext cx="735806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Kiểm soát ngoại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lệ: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Bắt lỗi kết nối Database (HTTP 500) để bảo vệ hệ thống không bị gián đoạn khi truy xuất khối lượng dữ liệu lớn.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3000" y="809625"/>
            <a:ext cx="171021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xem danh sách sản phẩm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14400" y="667226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986741" y="1481614"/>
            <a:ext cx="11301259" cy="5198579"/>
          </a:xfrm>
          <a:custGeom>
            <a:avLst/>
            <a:gdLst/>
            <a:ahLst/>
            <a:cxnLst/>
            <a:rect l="l" t="t" r="r" b="b"/>
            <a:pathLst>
              <a:path w="11301259" h="5198579">
                <a:moveTo>
                  <a:pt x="0" y="0"/>
                </a:moveTo>
                <a:lnTo>
                  <a:pt x="11301259" y="0"/>
                </a:lnTo>
                <a:lnTo>
                  <a:pt x="11301259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84407" y="6851643"/>
            <a:ext cx="9905927" cy="2724612"/>
          </a:xfrm>
          <a:custGeom>
            <a:avLst/>
            <a:gdLst/>
            <a:ahLst/>
            <a:cxnLst/>
            <a:rect l="l" t="t" r="r" b="b"/>
            <a:pathLst>
              <a:path w="9905927" h="2724612">
                <a:moveTo>
                  <a:pt x="0" y="0"/>
                </a:moveTo>
                <a:lnTo>
                  <a:pt x="9905927" y="0"/>
                </a:lnTo>
                <a:lnTo>
                  <a:pt x="9905927" y="2724612"/>
                </a:lnTo>
                <a:lnTo>
                  <a:pt x="0" y="2724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05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" y="619601"/>
            <a:ext cx="955408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xem chi tiết sản phẩm 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1550" y="2173742"/>
            <a:ext cx="5631666" cy="158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Truy vấn thông tin chính: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Trích xuất ID từ URL và dùng lệnh JOIN lấy chính xác chi tiết sản phẩm kèm tên danh mục tương ứng.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1550" y="4568327"/>
            <a:ext cx="563166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Đề x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uất liên quan (Cross-selling):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Thực thi truy vấn lồng để tự động lọc và hiển thị 4 sản phẩm cùng danh mục, giúp kích thích nhu cầu mua sắm.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1550" y="7023324"/>
            <a:ext cx="5631666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Xử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lý ngoại lệ (Lỗi 404):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Tự động bắt lỗi và thông báo cho người dùng nếu mã sản phẩm truyền vào không tồn tại trong Database.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1999904"/>
            <a:ext cx="8215312" cy="5572125"/>
            <a:chOff x="0" y="0"/>
            <a:chExt cx="10953750" cy="7429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3750" cy="7429500"/>
            </a:xfrm>
            <a:custGeom>
              <a:avLst/>
              <a:gdLst/>
              <a:ahLst/>
              <a:cxnLst/>
              <a:rect l="l" t="t" r="r" b="b"/>
              <a:pathLst>
                <a:path w="10953750" h="7429500">
                  <a:moveTo>
                    <a:pt x="0" y="0"/>
                  </a:moveTo>
                  <a:lnTo>
                    <a:pt x="10953750" y="0"/>
                  </a:lnTo>
                  <a:lnTo>
                    <a:pt x="10953750" y="7429500"/>
                  </a:lnTo>
                  <a:lnTo>
                    <a:pt x="0" y="742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70" r="-847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9696450" y="6459638"/>
            <a:ext cx="7764727" cy="3260130"/>
          </a:xfrm>
          <a:custGeom>
            <a:avLst/>
            <a:gdLst/>
            <a:ahLst/>
            <a:cxnLst/>
            <a:rect l="l" t="t" r="r" b="b"/>
            <a:pathLst>
              <a:path w="7764727" h="3260130">
                <a:moveTo>
                  <a:pt x="0" y="0"/>
                </a:moveTo>
                <a:lnTo>
                  <a:pt x="7764727" y="0"/>
                </a:lnTo>
                <a:lnTo>
                  <a:pt x="7764727" y="3260130"/>
                </a:lnTo>
                <a:lnTo>
                  <a:pt x="0" y="3260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3519" b="-787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7250" y="8067329"/>
            <a:ext cx="8215312" cy="820624"/>
          </a:xfrm>
          <a:custGeom>
            <a:avLst/>
            <a:gdLst/>
            <a:ahLst/>
            <a:cxnLst/>
            <a:rect l="l" t="t" r="r" b="b"/>
            <a:pathLst>
              <a:path w="8215312" h="820624">
                <a:moveTo>
                  <a:pt x="0" y="0"/>
                </a:moveTo>
                <a:lnTo>
                  <a:pt x="8215312" y="0"/>
                </a:lnTo>
                <a:lnTo>
                  <a:pt x="8215312" y="820623"/>
                </a:lnTo>
                <a:lnTo>
                  <a:pt x="0" y="820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31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696450" y="1952279"/>
            <a:ext cx="7362825" cy="113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5"/>
              </a:lnSpc>
            </a:pPr>
            <a:r>
              <a:rPr lang="en-US" sz="217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Xử lý</a:t>
            </a:r>
            <a:r>
              <a:rPr lang="en-US" sz="217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</a:t>
            </a:r>
            <a:r>
              <a:rPr lang="en-US" sz="217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rẽ nhán</a:t>
            </a:r>
            <a:r>
              <a:rPr lang="en-US" sz="217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h:  </a:t>
            </a:r>
            <a:r>
              <a:rPr lang="en-US" sz="217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Dựa vào lựa chọn trên Form, hệ thống chia luồng xử lý: Ghi nhận trực tiếp (COD) hoặc Gọi cổng thanh toán (PayOS).</a:t>
            </a:r>
            <a:endParaRPr lang="en-US" sz="217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96450" y="3535463"/>
            <a:ext cx="7362825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ích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hợp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API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PayOS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: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Đóng gói payload và sử dụng await payos.paymentRequests.create() để giao tiếp với máy chủ PayOS, sinh mã QR thanh toán động.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96450" y="5173763"/>
            <a:ext cx="736282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Toàn vẹn dữ l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i</a:t>
            </a:r>
            <a:r>
              <a:rPr lang="en-US" sz="2250" b="1" u="none" strike="noStrike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ệu: 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Kh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chố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 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đơ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hệ t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</a:t>
            </a:r>
            <a:r>
              <a:rPr lang="en-US" sz="2250" u="none" strike="noStrik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ống đồng thời lưu dữ liệu vào 2 bảng Orders và OrderDetails tại thời điểm mua.</a:t>
            </a:r>
            <a:endParaRPr lang="en-US" sz="2250" u="none" strike="noStrik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43000" y="809625"/>
            <a:ext cx="1710690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35"/>
              </a:lnSpc>
              <a:spcBef>
                <a:spcPct val="0"/>
              </a:spcBef>
            </a:pPr>
            <a:r>
              <a:rPr lang="en-US" sz="4280" b="1" u="none" strike="noStrike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đặt hàng và thanh toán</a:t>
            </a:r>
            <a:endParaRPr lang="en-US" sz="4280" b="1" u="none" strike="noStrike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14400" y="667226"/>
            <a:ext cx="114300" cy="814388"/>
            <a:chOff x="0" y="0"/>
            <a:chExt cx="152400" cy="108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7015316" y="1886504"/>
            <a:ext cx="11301259" cy="4803035"/>
          </a:xfrm>
          <a:custGeom>
            <a:avLst/>
            <a:gdLst/>
            <a:ahLst/>
            <a:cxnLst/>
            <a:rect l="l" t="t" r="r" b="b"/>
            <a:pathLst>
              <a:path w="11301259" h="4803035">
                <a:moveTo>
                  <a:pt x="0" y="0"/>
                </a:moveTo>
                <a:lnTo>
                  <a:pt x="11301259" y="0"/>
                </a:lnTo>
                <a:lnTo>
                  <a:pt x="11301259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15316" y="7121176"/>
            <a:ext cx="10938361" cy="1442595"/>
          </a:xfrm>
          <a:custGeom>
            <a:avLst/>
            <a:gdLst/>
            <a:ahLst/>
            <a:cxnLst/>
            <a:rect l="l" t="t" r="r" b="b"/>
            <a:pathLst>
              <a:path w="10938361" h="1442595">
                <a:moveTo>
                  <a:pt x="0" y="0"/>
                </a:moveTo>
                <a:lnTo>
                  <a:pt x="10938361" y="0"/>
                </a:lnTo>
                <a:lnTo>
                  <a:pt x="10938361" y="1442596"/>
                </a:lnTo>
                <a:lnTo>
                  <a:pt x="0" y="1442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" y="619601"/>
            <a:ext cx="955408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Chức năng xem lịch sử mua hàng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1550" y="2288042"/>
            <a:ext cx="563166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Kiểm t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ra phân quyền: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Xác thực req.session.user trước khi tải trang. Tự động chặn và điều hướng người dùng chưa đăng nhập về trang Login để bảo mật dữ liệu.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1550" y="4568327"/>
            <a:ext cx="5631666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Tr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uy vấn cá nhân hóa: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Lấy ID người dùng từ Session để thực thi truy vấn SELECT * FROM Orders WHERE user_id = ?, đảm bảo khách hàng chỉ xem được đơn hàng của chính mình.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1550" y="7023324"/>
            <a:ext cx="563166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Sắp</a:t>
            </a:r>
            <a:r>
              <a:rPr lang="en-US" sz="2250" b="1">
                <a:solidFill>
                  <a:srgbClr val="475569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 xếp thông minh: </a:t>
            </a: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Sử dụng mệnh đề ORDER BY id DESC ở cấp độ Database để tự động đẩy các đơn hàng mới nhất lên đầu danh sách.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836207" y="4619625"/>
            <a:ext cx="8615586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KẾT QUẢ VÀ ĐÁNH GIÁ</a:t>
            </a:r>
            <a:endParaRPr lang="en-US" sz="60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1085850"/>
            <a:ext cx="780097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Hoàn thiện hệ thống</a:t>
            </a:r>
            <a:endParaRPr lang="en-US" sz="5400" b="1">
              <a:solidFill>
                <a:srgbClr val="000000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7250" y="2403197"/>
            <a:ext cx="7800975" cy="120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2775" b="1">
                <a:solidFill>
                  <a:srgbClr val="000000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Website đã được triển khai thành công trên môi trường thực nghiệm với các thành tựu chính:</a:t>
            </a:r>
            <a:endParaRPr lang="en-US" sz="2775" b="1">
              <a:solidFill>
                <a:srgbClr val="000000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9312181" y="0"/>
            <a:ext cx="8975819" cy="10287000"/>
            <a:chOff x="0" y="0"/>
            <a:chExt cx="11967759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67759" cy="13716000"/>
            </a:xfrm>
            <a:custGeom>
              <a:avLst/>
              <a:gdLst/>
              <a:ahLst/>
              <a:cxnLst/>
              <a:rect l="l" t="t" r="r" b="b"/>
              <a:pathLst>
                <a:path w="11967759" h="13716000">
                  <a:moveTo>
                    <a:pt x="0" y="0"/>
                  </a:moveTo>
                  <a:lnTo>
                    <a:pt x="11967759" y="0"/>
                  </a:lnTo>
                  <a:lnTo>
                    <a:pt x="1196775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47" r="-744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57250" y="4039593"/>
            <a:ext cx="6858000" cy="120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805" lvl="1" indent="-299720" algn="l">
              <a:lnSpc>
                <a:spcPts val="4995"/>
              </a:lnSpc>
              <a:buFont typeface="Arial" panose="020B0604020202020204"/>
              <a:buChar char="•"/>
            </a:pPr>
            <a:r>
              <a:rPr lang="en-US" sz="2775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Hoạt động ổn định, đáp ứng mọi yêu cầu đề ra.</a:t>
            </a:r>
            <a:endParaRPr lang="en-US" sz="2775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5196880"/>
            <a:ext cx="6858000" cy="120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805" lvl="1" indent="-299720" algn="l">
              <a:lnSpc>
                <a:spcPts val="4995"/>
              </a:lnSpc>
              <a:buFont typeface="Arial" panose="020B0604020202020204"/>
              <a:buChar char="•"/>
            </a:pPr>
            <a:r>
              <a:rPr lang="en-US" sz="2775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Dữ liệu được đồng bộ hóa qua SQLite chính xác.</a:t>
            </a:r>
            <a:endParaRPr lang="en-US" sz="2775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7250" y="6354168"/>
            <a:ext cx="6858000" cy="120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805" lvl="1" indent="-299720" algn="l">
              <a:lnSpc>
                <a:spcPts val="4995"/>
              </a:lnSpc>
              <a:buFont typeface="Arial" panose="020B0604020202020204"/>
              <a:buChar char="•"/>
            </a:pPr>
            <a:r>
              <a:rPr lang="en-US" sz="2775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Xử lý mượt mà các thao tác ở quy mô vừa và nhỏ.</a:t>
            </a:r>
            <a:endParaRPr lang="en-US" sz="2775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7511455"/>
            <a:ext cx="6858000" cy="120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805" lvl="1" indent="-299720" algn="l">
              <a:lnSpc>
                <a:spcPts val="4995"/>
              </a:lnSpc>
              <a:buFont typeface="Arial" panose="020B0604020202020204"/>
              <a:buChar char="•"/>
            </a:pPr>
            <a:r>
              <a:rPr lang="en-US" sz="2775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Phù hợp hoàn toàn với mục tiêu nghiên cứu ban đầu.</a:t>
            </a:r>
            <a:endParaRPr lang="en-US" sz="2775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51840" y="619125"/>
            <a:ext cx="6282690" cy="83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Ưu điểm hệ thống</a:t>
            </a:r>
            <a:endParaRPr lang="en-US" sz="5400" b="1">
              <a:solidFill>
                <a:srgbClr val="000000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345531"/>
            <a:ext cx="8115300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Trải nghiệm tốt: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Giao diện hợp lý, dễ dàng thao tác.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502819"/>
            <a:ext cx="8115300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Quy trình khép kín: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Từ chọn sản phẩm đến hoàn tất đơn hàng.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660106"/>
            <a:ext cx="8115300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Quản trị Admin: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Hoạt động ổn định và chính xác cao.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817394"/>
            <a:ext cx="8115300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Thanh toán trực tuyến: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Tích hợp thành công module chuyên nghiệp.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79969" y="2345531"/>
            <a:ext cx="7779331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CSDL Logic: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Thiết kế bảng hợp lý, toàn vẹn dữ liệu.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79969" y="3502819"/>
            <a:ext cx="7779331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Mã nguồn chuẩn: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Cấu trúc rõ ràng, dễ bảo trì và nâng cấp.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79969" y="4882039"/>
            <a:ext cx="7779331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Phản hồi nhanh:</a:t>
            </a: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Đảm bảo tính sẵn sàng cho người dùng.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57250" y="2216944"/>
            <a:ext cx="9703829" cy="133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5"/>
              </a:lnSpc>
            </a:pPr>
            <a:r>
              <a:rPr lang="en-US" sz="307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Mặc dù đạt được kết quả tích cực, hệ thống vẫn tồn tại một số rào cản kỹ thuật:</a:t>
            </a:r>
            <a:endParaRPr lang="en-US" sz="3075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0363309" y="0"/>
            <a:ext cx="7924691" cy="10287000"/>
            <a:chOff x="0" y="0"/>
            <a:chExt cx="10566254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6254" cy="13716000"/>
            </a:xfrm>
            <a:custGeom>
              <a:avLst/>
              <a:gdLst/>
              <a:ahLst/>
              <a:cxnLst/>
              <a:rect l="l" t="t" r="r" b="b"/>
              <a:pathLst>
                <a:path w="10566254" h="13716000">
                  <a:moveTo>
                    <a:pt x="0" y="0"/>
                  </a:moveTo>
                  <a:lnTo>
                    <a:pt x="10566254" y="0"/>
                  </a:lnTo>
                  <a:lnTo>
                    <a:pt x="105662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904" r="-14904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57250" y="857250"/>
            <a:ext cx="8427720" cy="83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Hạn chế &amp; Nhược điểm</a:t>
            </a:r>
            <a:endParaRPr lang="en-US" sz="5400" b="1">
              <a:solidFill>
                <a:srgbClr val="000000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7250" y="3741848"/>
            <a:ext cx="8964148" cy="59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Chưa đa dạng cổng thanh toán (MoMo, VNPay...).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50" y="4981575"/>
            <a:ext cx="8964148" cy="59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Thiếu hệ thống gợi ý sản phẩm thông minh (AI).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7250" y="5916930"/>
            <a:ext cx="8964148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SQLite hạn chế về hiệu năng khi người dùng tăng cao.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250" y="7414260"/>
            <a:ext cx="8964148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Chưa cấu hình bảo mật nâng cao (2FA, mã hóa sâu).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09930" y="619125"/>
            <a:ext cx="8146415" cy="83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Giải pháp khắc phục</a:t>
            </a:r>
            <a:endParaRPr lang="en-US" sz="5400" b="1">
              <a:solidFill>
                <a:srgbClr val="000000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211337"/>
            <a:ext cx="9089827" cy="557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Chuyển SQLite sang MySQL hoặc PostgreSQL.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Tích hợp thêm VNPay, MoMo.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Xây dựng chức năng đánh giá và bình luận sản phẩm.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Theo dõi trạng thái đơn hàng qua Email/SMS.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Nâng cao bảo mật với bcrypt, CSRF, 2FA.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Tối ưu hiệu năng bằng Redis Cache.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624205" lvl="1" indent="-312420" algn="l">
              <a:lnSpc>
                <a:spcPts val="6420"/>
              </a:lnSpc>
              <a:buFont typeface="Arial" panose="020B0604020202020204"/>
              <a:buChar char="•"/>
            </a:pPr>
            <a:r>
              <a:rPr lang="en-US" sz="2890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Thiết lập cơ chế sao lưu dữ liệu tự động.</a:t>
            </a:r>
            <a:endParaRPr lang="en-US" sz="2890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911680"/>
            <a:ext cx="8365034" cy="512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Phát triển ứng dụng Mobile (iOS &amp; Android).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Ứng dụng AI/ML để gợi ý sản phẩm.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Tích hợp quản lý kho thông minh.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Xây dựng Chatbot AI hỗ trợ khách hàng 24/7.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Kết nối API đơn vị vận chuyển.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Chuyển đổi sang kiến trúc Microservices.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Xây dựng hệ thống Business Intelligence.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0395" lvl="1" indent="-310515" algn="l">
              <a:lnSpc>
                <a:spcPts val="5175"/>
              </a:lnSpc>
              <a:buFont typeface="Arial" panose="020B0604020202020204"/>
              <a:buChar char="•"/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Triển khai trên AWS, Google Cloud hoặc Azure.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8523" y="7365550"/>
            <a:ext cx="14316139" cy="123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5"/>
              </a:lnSpc>
              <a:spcBef>
                <a:spcPct val="0"/>
              </a:spcBef>
            </a:pPr>
            <a:r>
              <a:rPr lang="en-US" sz="28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Đề tài đã hoàn thành các mục tiêu đặt ra và tạo nền tảng để phát triển thành hệ thống thương mại điện tử hoàn chỉnh trong tương lai.</a:t>
            </a:r>
            <a:endParaRPr lang="en-US" sz="28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06070"/>
            <a:ext cx="6673850" cy="1246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Hướng phát triển</a:t>
            </a:r>
            <a:endParaRPr lang="en-US" sz="5400" b="1">
              <a:solidFill>
                <a:srgbClr val="000000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57250" y="4505030"/>
            <a:ext cx="16573500" cy="2519953"/>
            <a:chOff x="0" y="0"/>
            <a:chExt cx="22098000" cy="3359937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98000" cy="3359912"/>
            </a:xfrm>
            <a:custGeom>
              <a:avLst/>
              <a:gdLst/>
              <a:ahLst/>
              <a:cxnLst/>
              <a:rect l="l" t="t" r="r" b="b"/>
              <a:pathLst>
                <a:path w="22098000" h="3359912">
                  <a:moveTo>
                    <a:pt x="0" y="0"/>
                  </a:moveTo>
                  <a:lnTo>
                    <a:pt x="22098000" y="0"/>
                  </a:lnTo>
                  <a:lnTo>
                    <a:pt x="22098000" y="3359912"/>
                  </a:lnTo>
                  <a:lnTo>
                    <a:pt x="0" y="335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471612" y="4976517"/>
            <a:ext cx="15344775" cy="126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0"/>
              </a:lnSpc>
            </a:pPr>
            <a:r>
              <a:rPr lang="en-US" sz="31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"Đồ án đã thành công trong việc xây dựng một nền tảng bán hàng chuyên nghiệp, áp dụng hiệu quả các kiến thức về lập trình Web hiện đại vào thực tế."</a:t>
            </a:r>
            <a:endParaRPr lang="en-US" sz="31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3000" y="809625"/>
            <a:ext cx="17102138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Kết luận</a:t>
            </a:r>
            <a:endParaRPr lang="en-US" sz="4275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" cy="1085850"/>
            </a:xfrm>
            <a:custGeom>
              <a:avLst/>
              <a:gdLst/>
              <a:ahLst/>
              <a:cxnLst/>
              <a:rect l="l" t="t" r="r" b="b"/>
              <a:pathLst>
                <a:path w="152400" h="108585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FFB7C5"/>
            </a:solidFill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42912" y="2020338"/>
            <a:ext cx="1740217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2D5A27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XIN CẢM ƠN!</a:t>
            </a:r>
            <a:endParaRPr lang="en-US" sz="9000" b="1">
              <a:solidFill>
                <a:srgbClr val="2D5A27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7250" y="3944388"/>
            <a:ext cx="16573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Đã lắng nghe bài thuyết trình của nhóm.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57250" y="5192163"/>
            <a:ext cx="16573500" cy="9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3600" b="1">
                <a:solidFill>
                  <a:srgbClr val="FFB7C5"/>
                </a:solidFill>
                <a:latin typeface="Lato Bold" panose="020F0502020204030203"/>
                <a:ea typeface="Lato Bold" panose="020F0502020204030203"/>
                <a:cs typeface="Lato Bold" panose="020F0502020204030203"/>
                <a:sym typeface="Lato Bold" panose="020F0502020204030203"/>
              </a:rPr>
              <a:t>HỎI &amp; ĐÁP (Q&amp;A)</a:t>
            </a:r>
            <a:endParaRPr lang="en-US" sz="3600" b="1">
              <a:solidFill>
                <a:srgbClr val="FFB7C5"/>
              </a:solidFill>
              <a:latin typeface="Lato Bold" panose="020F0502020204030203"/>
              <a:ea typeface="Lato Bold" panose="020F0502020204030203"/>
              <a:cs typeface="Lato Bold" panose="020F0502020204030203"/>
              <a:sym typeface="Lato Bold" panose="020F050202020403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47750" y="6761712"/>
            <a:ext cx="163830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phanvanbac15112005@gmail.com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7750" y="7390362"/>
            <a:ext cx="16383000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https://github.com/pvb-05/webpg</a:t>
            </a:r>
            <a:endParaRPr lang="en-US" sz="2250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6672262" y="6975072"/>
            <a:ext cx="285750" cy="285750"/>
            <a:chOff x="0" y="0"/>
            <a:chExt cx="381000" cy="38100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00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6672262" y="7603722"/>
            <a:ext cx="285750" cy="285750"/>
            <a:chOff x="0" y="0"/>
            <a:chExt cx="381000" cy="38100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00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8421</Words>
  <Application>WPS Presentation</Application>
  <PresentationFormat>On-screen Show (4:3)</PresentationFormat>
  <Paragraphs>362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SimSun</vt:lpstr>
      <vt:lpstr>Wingdings</vt:lpstr>
      <vt:lpstr>Lato Bold</vt:lpstr>
      <vt:lpstr>Lato</vt:lpstr>
      <vt:lpstr>Poppins Bold</vt:lpstr>
      <vt:lpstr>Microsoft YaHei</vt:lpstr>
      <vt:lpstr>Arial Unicode MS</vt:lpstr>
      <vt:lpstr>Calibri</vt:lpstr>
      <vt:lpstr>Arial</vt:lpstr>
      <vt:lpstr>Merriweather Bold</vt:lpstr>
      <vt:lpstr>DM Sans Bold</vt:lpstr>
      <vt:lpstr>DM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Website Bán Hoa Trực Tuyến.pptx</dc:title>
  <dc:creator/>
  <cp:lastModifiedBy>Bắc Phan</cp:lastModifiedBy>
  <cp:revision>2</cp:revision>
  <dcterms:created xsi:type="dcterms:W3CDTF">2006-08-16T00:00:00Z</dcterms:created>
  <dcterms:modified xsi:type="dcterms:W3CDTF">2026-06-05T23:28:35Z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954D4C011F314E5C94611334DB604FC4_12</vt:lpwstr>
  </property>
  <property fmtid="{D5CDD505-2E9C-101B-9397-08002B2CF9AE}" pid="3" name="KSOProductBuildVer">
    <vt:lpwstr>1033-12.1.0.26880</vt:lpwstr>
  </property>
</Properties>
</file>